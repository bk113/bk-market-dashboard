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44.png"/><Relationship Id="rId21" Type="http://schemas.openxmlformats.org/officeDocument/2006/relationships/image" Target="../media/image45.png"/><Relationship Id="rId22" Type="http://schemas.openxmlformats.org/officeDocument/2006/relationships/image" Target="../media/image46.png"/><Relationship Id="rId23" Type="http://schemas.openxmlformats.org/officeDocument/2006/relationships/image" Target="../media/image4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200" b="1" i="0">
                <a:solidFill>
                  <a:srgbClr val="E6EDF3"/>
                </a:solidFill>
                <a:latin typeface="Calibri"/>
              </a:rPr>
              <a:t>BK MARKET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0" i="0">
                <a:solidFill>
                  <a:srgbClr val="8B949E"/>
                </a:solidFill>
                <a:latin typeface="Calibri"/>
              </a:rPr>
              <a:t>Daily Brief  ·  27 March 2026  17:20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18688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6B7280"/>
                </a:solidFill>
                <a:latin typeface="Calibri"/>
              </a:rPr>
              <a:t>47-Instrument Universe  ·  10 Asset Classes  ·  Returns, Risk &amp;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DE68A"/>
                </a:solidFill>
                <a:latin typeface="Calibri"/>
              </a:rPr>
              <a:t>Market Tone: MIXED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4164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Calibri"/>
              </a:rPr>
              <a:t>Split signals: 12 RED · 16 AMBER · 19 GREEN.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480560"/>
            <a:ext cx="2286000" cy="128016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87171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87171"/>
                </a:solidFill>
                <a:latin typeface="Calibri"/>
              </a:rPr>
              <a:t>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39" y="4480560"/>
            <a:ext cx="2286000" cy="1280160"/>
          </a:xfrm>
          <a:prstGeom prst="rect">
            <a:avLst/>
          </a:prstGeom>
          <a:solidFill>
            <a:srgbClr val="451A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FDE68A"/>
                </a:solidFill>
                <a:latin typeface="Calibri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FDE68A"/>
                </a:solidFill>
                <a:latin typeface="Calibri"/>
              </a:rPr>
              <a:t>AMBER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480560"/>
            <a:ext cx="2286000" cy="1280160"/>
          </a:xfrm>
          <a:prstGeom prst="rect">
            <a:avLst/>
          </a:prstGeom>
          <a:solidFill>
            <a:srgbClr val="052E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4498848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 i="0">
                <a:solidFill>
                  <a:srgbClr val="86EFAC"/>
                </a:solidFill>
                <a:latin typeface="Calibri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53035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86EFAC"/>
                </a:solidFill>
                <a:latin typeface="Calibri"/>
              </a:rPr>
              <a:t>GREEN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Signal: RED = Max DD &lt; −15%   AMBER = −15% to −7%   GREEN = &gt; −7% from 52-week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10972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374151"/>
                </a:solidFill>
                <a:latin typeface="Calibri"/>
              </a:rPr>
              <a:t>Source: Yahoo Finance  ·  Price return, local currency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EQUITIES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US Broad · US Sectors · Developed Markets · Emerging Markets · Defence  ·  20D Trend / 1W / 1M / 3M / YTD /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17:20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0972800" cy="59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005840"/>
                <a:gridCol w="914400"/>
                <a:gridCol w="1005840"/>
                <a:gridCol w="1005840"/>
                <a:gridCol w="1005840"/>
                <a:gridCol w="1097280"/>
                <a:gridCol w="1188720"/>
              </a:tblGrid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EQUITIES — US BROAD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Nasdaq 100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-4.3%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-7.9%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Russell 2000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IWM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+0.7%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S&amp;P 500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-5.1%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World (ACWI)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ACWI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EQUITIES — US SECTORS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Energy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XLE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+8.8%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+25.1%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+37.6%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XLF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-7.6%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-10.4%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Real Estate (REITs)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VNQ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Utilities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XLU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+6.5%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EQUITIES — DEVELOPED MARKETS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Australia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-4.1%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Europe Dev (EAFE)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EFA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Eurozone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EZU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-8.2%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-4.9%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-11.1%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Japan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EWJ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+1.9%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+2.4%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Singapore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+0.9%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+0.4%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UK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EWU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-3.9%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-3.0%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EQUITIES — EMERGING MARKETS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EWZ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+5.0%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+15.8%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FXI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-11.4%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-8.8%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EM Broad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EEM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India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INDA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-9.0%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-13.8%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Korea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-4.6%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-5.3%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+1.7%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+23.4%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South Africa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EZA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-9.3%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-16.2%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-7.0%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Taiwan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EWT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+10.3%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DEFENCE &amp; GEOPOLITICAL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Defence Bull 3x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DFEN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-25.7%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-21.5%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S&amp;P Aerospace &amp; Defence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XAR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-8.0%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-9.2%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+6.5%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  <a:tr h="191729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US Aerospace &amp; Defence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ITA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-9.1%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-6.3%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DE68A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>
                    <a:solidFill>
                      <a:srgbClr val="78350f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982" y="1214972"/>
            <a:ext cx="885139" cy="13804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982" y="1406701"/>
            <a:ext cx="885139" cy="13804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982" y="1598430"/>
            <a:ext cx="885139" cy="13804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982" y="1790159"/>
            <a:ext cx="885139" cy="13804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3982" y="2173617"/>
            <a:ext cx="885139" cy="13804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982" y="2365346"/>
            <a:ext cx="885139" cy="13804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3982" y="2557075"/>
            <a:ext cx="885139" cy="13804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3982" y="2748804"/>
            <a:ext cx="885139" cy="138044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3982" y="3132262"/>
            <a:ext cx="885139" cy="138044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3982" y="3323991"/>
            <a:ext cx="885139" cy="138044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3982" y="3515720"/>
            <a:ext cx="885139" cy="138044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3982" y="3707449"/>
            <a:ext cx="885139" cy="138044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3982" y="3899178"/>
            <a:ext cx="885139" cy="13804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3982" y="4090907"/>
            <a:ext cx="885139" cy="138044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73982" y="4282636"/>
            <a:ext cx="885139" cy="13804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3982" y="4666094"/>
            <a:ext cx="885139" cy="138044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3982" y="4857823"/>
            <a:ext cx="885139" cy="138044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73982" y="5049552"/>
            <a:ext cx="885139" cy="138044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73982" y="5241281"/>
            <a:ext cx="885139" cy="138044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73982" y="5433010"/>
            <a:ext cx="885139" cy="138044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73982" y="5624739"/>
            <a:ext cx="885139" cy="138044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73982" y="5816468"/>
            <a:ext cx="885139" cy="138044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73982" y="6199926"/>
            <a:ext cx="885139" cy="138044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73982" y="6391655"/>
            <a:ext cx="885139" cy="138044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973982" y="6583384"/>
            <a:ext cx="885139" cy="1380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FIXED INCOME, COMMODITIES &amp; OTHER —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Fixed Income &amp; Credit · Commodities · Crypto · FX · Volatility  ·  20D Trend / 1W / 1M / 3M / YTD /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17:20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" y="804672"/>
          <a:ext cx="10972800" cy="5943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22960"/>
                <a:gridCol w="1005840"/>
                <a:gridCol w="914400"/>
                <a:gridCol w="1005840"/>
                <a:gridCol w="1005840"/>
                <a:gridCol w="1005840"/>
                <a:gridCol w="1097280"/>
                <a:gridCol w="1188720"/>
              </a:tblGrid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Asset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1D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1W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1M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3M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YTD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58A6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FIXED INCOME &amp; CREDIT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Cash (T-Bills)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BIL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+0.2%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+0.8%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EM Local Currency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EMLC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+0.1%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-4.2%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EM USD Sovereigns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EMB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+0.3%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HY Credit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HYG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-1.8%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IG Credit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LQD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-2.1%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Senior Loans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BKLN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-0.0%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+0.6%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Treasuries 1-3Y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SHY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-0.6%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-0.2%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Treasuries 20Y+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TLT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+0.3%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-2.7%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-1.4%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Treasuries 7-10Y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IEF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-0.3%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-1.9%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-0.8%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-1.0%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US Aggregate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AGG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-1.6%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-0.9%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-0.7%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US TIPS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TIP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-0.4%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COMMODITIES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Agriculture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DBA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+1.0%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+5.3%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+6.2%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Broad Commodities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DBC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-1.7%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+17.6%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+27.2%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Copper Miners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COPX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+2.6%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-11.3%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-17.6%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-1.3%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Gold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GLD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-15.4%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-12.5%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Natural Gas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UNG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-4.4%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-7.1%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-15.2%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Silver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SLV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-1.2%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-20.0%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-34.6%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-5.7%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WTI Oil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USO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-3.4%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+7.8%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+58.6%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+69.5%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CRYPTO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Bitcoin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BTC-USD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-1.5%</a:t>
                      </a:r>
                    </a:p>
                  </a:txBody>
                  <a:tcPr>
                    <a:solidFill>
                      <a:srgbClr val="5a1a1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-0.1%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-0.5%</a:t>
                      </a:r>
                    </a:p>
                  </a:txBody>
                  <a:tcPr>
                    <a:solidFill>
                      <a:srgbClr val="3b111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-24.3%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CA5A5"/>
                          </a:solidFill>
                          <a:latin typeface="Calibri"/>
                        </a:rPr>
                        <a:t>-23.6%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FX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US Dollar Index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UUP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+0.5%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+1.2%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+2.9%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>
                    <a:solidFill>
                      <a:srgbClr val="14532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>VOLATILITY</a:t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>
                          <a:solidFill>
                            <a:srgbClr val="58A6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c2128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Ultra VIX Short-Term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UVXY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+1.8%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+55.5%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+53.2%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  <a:tr h="212271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E6EDF3"/>
                          </a:solidFill>
                          <a:latin typeface="Calibri"/>
                        </a:rPr>
                        <a:t>VIX Short-Term Futures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B949E"/>
                          </a:solidFill>
                          <a:latin typeface="Calibri"/>
                        </a:rPr>
                        <a:t>VIXY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600" b="0">
                          <a:solidFill>
                            <a:srgbClr val="0D1117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BBF7D0"/>
                          </a:solidFill>
                          <a:latin typeface="Calibri"/>
                        </a:rPr>
                        <a:t>+0.0%</a:t>
                      </a:r>
                    </a:p>
                  </a:txBody>
                  <a:tcPr>
                    <a:solidFill>
                      <a:srgbClr val="1c382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86EFAC"/>
                          </a:solidFill>
                          <a:latin typeface="Calibri"/>
                        </a:rPr>
                        <a:t>+1.5%</a:t>
                      </a:r>
                    </a:p>
                  </a:txBody>
                  <a:tcPr>
                    <a:solidFill>
                      <a:srgbClr val="16653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+3.0%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+38.2%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6EE7B7"/>
                          </a:solidFill>
                          <a:latin typeface="Calibri"/>
                        </a:rPr>
                        <a:t>+38.4%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F87171"/>
                          </a:solidFill>
                          <a:latin typeface="Calibri"/>
                        </a:rPr>
                        <a:t>RED</a:t>
                      </a:r>
                    </a:p>
                  </a:txBody>
                  <a:tcPr>
                    <a:solidFill>
                      <a:srgbClr val="7f1d1d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982" y="1258932"/>
            <a:ext cx="885139" cy="15283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3982" y="1471204"/>
            <a:ext cx="885139" cy="15283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3982" y="1683475"/>
            <a:ext cx="885139" cy="15283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982" y="1895747"/>
            <a:ext cx="885139" cy="15283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3982" y="2108018"/>
            <a:ext cx="885139" cy="15283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3982" y="2320290"/>
            <a:ext cx="885139" cy="15283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73982" y="2532561"/>
            <a:ext cx="885139" cy="15283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3982" y="2744832"/>
            <a:ext cx="885139" cy="15283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3982" y="2957104"/>
            <a:ext cx="885139" cy="15283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73982" y="3169375"/>
            <a:ext cx="885139" cy="15283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73982" y="3381647"/>
            <a:ext cx="885139" cy="15283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73982" y="3806190"/>
            <a:ext cx="885139" cy="15283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73982" y="4018461"/>
            <a:ext cx="885139" cy="15283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73982" y="4230732"/>
            <a:ext cx="885139" cy="15283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73982" y="4443004"/>
            <a:ext cx="885139" cy="15283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73982" y="4655275"/>
            <a:ext cx="885139" cy="15283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73982" y="4867547"/>
            <a:ext cx="885139" cy="15283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973982" y="5079818"/>
            <a:ext cx="885139" cy="15283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973982" y="5504361"/>
            <a:ext cx="885139" cy="15283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73982" y="5928904"/>
            <a:ext cx="885139" cy="15283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73982" y="6353447"/>
            <a:ext cx="885139" cy="15283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73982" y="6565718"/>
            <a:ext cx="885139" cy="152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RISK SNAPSHOT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Volatility (20D ann.) vs Sharpe Ratio (1Y)  ·  Bubble size = Max Drawdown magnitude  ·  Colour = Signal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17:20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2188952" cy="667512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6868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E6EDF3"/>
                </a:solidFill>
                <a:latin typeface="Calibri"/>
              </a:rPr>
              <a:t>YTD PERFORMANCE — ALL INSTRUMENTS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75488"/>
            <a:ext cx="86868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8B949E"/>
                </a:solidFill>
                <a:latin typeface="Calibri"/>
              </a:rPr>
              <a:t>Year-to-Date Return  ·  All 47 instruments sorted by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256032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4B5563"/>
                </a:solidFill>
                <a:latin typeface="Calibri"/>
              </a:rPr>
              <a:t>27 March 2026  17:20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04672"/>
            <a:ext cx="11823192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