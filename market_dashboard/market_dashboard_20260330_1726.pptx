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E6EDF3"/>
                </a:solidFill>
                <a:latin typeface="Calibri"/>
              </a:rPr>
              <a:t>BK MARKET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0">
                <a:solidFill>
                  <a:srgbClr val="8B949E"/>
                </a:solidFill>
                <a:latin typeface="Calibri"/>
              </a:rPr>
              <a:t>Daily Brief  ·  30 March 2026  17:26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1868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47-Instrument Universe  ·  10 Asset Classes  ·  Returns, Risk &amp;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DE68A"/>
                </a:solidFill>
                <a:latin typeface="Calibri"/>
              </a:rPr>
              <a:t>Market Tone: MIXED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416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Split signals: 12 RED · 17 AMBER · 18 GREEN.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2286000" cy="1280160"/>
          </a:xfrm>
          <a:prstGeom prst="rect">
            <a:avLst/>
          </a:prstGeom>
          <a:solidFill>
            <a:srgbClr val="4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98848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87171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87171"/>
                </a:solidFill>
                <a:latin typeface="Calibri"/>
              </a:rPr>
              <a:t>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4480560"/>
            <a:ext cx="2286000" cy="1280160"/>
          </a:xfrm>
          <a:prstGeom prst="rect">
            <a:avLst/>
          </a:prstGeom>
          <a:solidFill>
            <a:srgbClr val="451A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39" y="4498848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DE68A"/>
                </a:solidFill>
                <a:latin typeface="Calibri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5303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DE68A"/>
                </a:solidFill>
                <a:latin typeface="Calibri"/>
              </a:rPr>
              <a:t>AMBER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480560"/>
            <a:ext cx="2286000" cy="128016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498848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86EFAC"/>
                </a:solidFill>
                <a:latin typeface="Calibr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303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6EFAC"/>
                </a:solidFill>
                <a:latin typeface="Calibri"/>
              </a:rPr>
              <a:t>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Signal: RED = Max DD &lt; −15%   AMBER = −15% to −7%   GREEN = &gt; −7% from 52-week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Source: Yahoo Finance  ·  Price return, local currency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EQUITIES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US Broad · US Sectors · Dev Mkts · EM · Defence  ·  Trend / 1W / 1M / 3M / YTD / Vol /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30 March 2026  17:26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04672"/>
          <a:ext cx="1252728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1280160"/>
                <a:gridCol w="914400"/>
                <a:gridCol w="1005840"/>
                <a:gridCol w="1005840"/>
                <a:gridCol w="1005840"/>
                <a:gridCol w="1097280"/>
                <a:gridCol w="1280160"/>
                <a:gridCol w="1188720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EQUITIES — US BROAD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Nasdaq 100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-7.4%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-10.1%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-8.4%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19.7%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Russell 2000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IWM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-7.7%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-1.1%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18.4%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S&amp;P 500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SPY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-8.2%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15.8%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World (ACWI)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ACWI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-7.7%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17.6%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EQUITIES — US SECTORS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Energy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XLE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+3.3%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+11.1%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+27.1%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+39.9%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14.5%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Financials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XLF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-10.5%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-12.7%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16.3%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Real Estate (REITs)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VNQ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-1.0%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-7.2%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-1.7%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5.1%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Utilities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XLU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-2.7%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+6.3%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+6.8%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3.8%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EQUITIES — DEVELOPED MARKETS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Australia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-2.1%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-1.5%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+3.9%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16.9%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Europe Dev (EAFE)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EFA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-3.0%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-2.3%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18.6%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49376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969251"/>
            <a:ext cx="1075334" cy="3043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044" y="2444739"/>
            <a:ext cx="1075334" cy="3043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044" y="2920227"/>
            <a:ext cx="1075334" cy="304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044" y="3670035"/>
            <a:ext cx="1075334" cy="30431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6044" y="4145522"/>
            <a:ext cx="1075334" cy="30431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6044" y="4621010"/>
            <a:ext cx="1075334" cy="30431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6044" y="5096498"/>
            <a:ext cx="1075334" cy="30431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6044" y="5846306"/>
            <a:ext cx="1075334" cy="30431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6044" y="6321794"/>
            <a:ext cx="1075334" cy="304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1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EQUITIES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US Broad · US Sectors · Dev Mkts · EM · Defence  ·  Trend / 1W / 1M / 3M / YTD / Vol / Signal  · 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30 March 2026  17:26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04672"/>
          <a:ext cx="12527280" cy="5358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1280160"/>
                <a:gridCol w="914400"/>
                <a:gridCol w="1005840"/>
                <a:gridCol w="1005840"/>
                <a:gridCol w="1005840"/>
                <a:gridCol w="1097280"/>
                <a:gridCol w="1280160"/>
                <a:gridCol w="1188720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Eurozone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EZU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-10.0%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18.2%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Germany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-7.3%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-13.1%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-10.4%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19.3%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Japan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EWJ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+0.9%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23.0%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Singapore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-0.9%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-0.3%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+0.3%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10.3%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UK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-2.3%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+0.3%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18.7%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EQUITIES — EMERGING MARKETS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EWZ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-1.3%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+0.1%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+15.3%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22.1%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FXI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-11.7%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-9.0%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24.7%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EM Broad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EEM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+0.9%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26.0%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INDA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-8.3%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-10.9%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-15.2%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23.0%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Korea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-9.6%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+3.1%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+24.4%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40.2%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21944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694931"/>
            <a:ext cx="1075334" cy="3043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044" y="2170419"/>
            <a:ext cx="1075334" cy="3043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044" y="2645907"/>
            <a:ext cx="1075334" cy="304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044" y="3121395"/>
            <a:ext cx="1075334" cy="30431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6044" y="3871203"/>
            <a:ext cx="1075334" cy="30431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6044" y="4346691"/>
            <a:ext cx="1075334" cy="30431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6044" y="4822179"/>
            <a:ext cx="1075334" cy="30431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6044" y="5297666"/>
            <a:ext cx="1075334" cy="30431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6044" y="5773154"/>
            <a:ext cx="1075334" cy="304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2 of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EQUITIES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US Broad · US Sectors · Dev Mkts · EM · Defence  ·  Trend / 1W / 1M / 3M / YTD / Vol / Signal  ·  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30 March 2026  17:26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04672"/>
          <a:ext cx="12527280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1280160"/>
                <a:gridCol w="914400"/>
                <a:gridCol w="1005840"/>
                <a:gridCol w="1005840"/>
                <a:gridCol w="1005840"/>
                <a:gridCol w="1097280"/>
                <a:gridCol w="1280160"/>
                <a:gridCol w="1188720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South Africa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EZA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-2.9%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-10.8%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-17.0%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35.4%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Taiwan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EWT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-1.8%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-0.6%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+9.4%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28.1%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DEFENCE &amp; GEOPOLITICAL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Defence Bull 3x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DFEN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-13.0%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-29.9%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-24.0%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71.0%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S&amp;P Aerospace &amp; Defence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XAR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-6.0%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-11.2%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-10.5%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+3.9%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31.5%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US Aerospace &amp; Defence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ITA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-10.7%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-7.4%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+0.7%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23.0%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21944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694931"/>
            <a:ext cx="1075334" cy="3043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044" y="2444739"/>
            <a:ext cx="1075334" cy="3043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044" y="2920227"/>
            <a:ext cx="1075334" cy="304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044" y="3395715"/>
            <a:ext cx="1075334" cy="304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3 of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FIXED INCOME, COMMODITIES &amp; OTHER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Fixed Income &amp; Credit · Commodities · Crypto · FX · Volatility  ·  Trend / 1W / 1M / 3M / YTD / Vol /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30 March 2026  17:26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04672"/>
          <a:ext cx="12527280" cy="5358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1280160"/>
                <a:gridCol w="914400"/>
                <a:gridCol w="1005840"/>
                <a:gridCol w="1005840"/>
                <a:gridCol w="1005840"/>
                <a:gridCol w="1097280"/>
                <a:gridCol w="1280160"/>
                <a:gridCol w="1188720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FIXED INCOME &amp; CREDIT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Cash (T-Bills)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BIL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+0.1%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+0.2%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+0.6%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0.3%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EM Local Currency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EMLC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-1.1%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-2.6%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-2.7%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6.5%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EM USD Sovereigns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EMB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-1.6%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-2.6%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10.3%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HY Credit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HYG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-0.9%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-1.8%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-2.1%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5.1%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IG Credit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LQD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-1.0%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-2.9%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-2.3%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-1.6%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6.0%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Senior Loans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BKLN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-0.8%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-0.9%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-2.0%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5.3%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Treasuries 1-3Y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SHY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-0.0%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-0.5%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-0.0%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2.3%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Treasuries 20Y+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TLT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-4.0%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-1.0%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9.8%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Treasuries 7-10Y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IEF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-0.8%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-0.9%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-1.0%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6.8%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US Aggregate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AGG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-0.6%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-1.9%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-1.1%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-0.7%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4.7%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49376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969251"/>
            <a:ext cx="1075334" cy="3043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044" y="2444739"/>
            <a:ext cx="1075334" cy="3043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044" y="2920227"/>
            <a:ext cx="1075334" cy="304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044" y="3395715"/>
            <a:ext cx="1075334" cy="30431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6044" y="3871203"/>
            <a:ext cx="1075334" cy="30431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6044" y="4346691"/>
            <a:ext cx="1075334" cy="30431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6044" y="4822179"/>
            <a:ext cx="1075334" cy="30431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6044" y="5297666"/>
            <a:ext cx="1075334" cy="30431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6044" y="5773154"/>
            <a:ext cx="1075334" cy="304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1 of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FIXED INCOME, COMMODITIES &amp; OTHER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Fixed Income &amp; Credit · Commodities · Crypto · FX · Volatility  ·  Trend / 1W / 1M / 3M / YTD / Vol / Signal  · 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30 March 2026  17:26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04672"/>
          <a:ext cx="1252728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1280160"/>
                <a:gridCol w="914400"/>
                <a:gridCol w="1005840"/>
                <a:gridCol w="1005840"/>
                <a:gridCol w="1005840"/>
                <a:gridCol w="1097280"/>
                <a:gridCol w="1280160"/>
                <a:gridCol w="1188720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US TIPS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TIP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-0.4%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-1.7%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-0.6%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-0.2%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3.4%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COMMODITIES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Agriculture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DBA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+2.3%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+5.5%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+6.5%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3.5%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Broad Commodities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DBC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+3.3%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+7.2%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+19.8%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+30.1%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15.6%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Copper Miners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COPX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-12.9%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-18.7%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-0.3%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51.7%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Gold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GLD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-0.4%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-12.2%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-10.8%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+4.6%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41.5%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Natural Gas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UNG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-0.2%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-17.2%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+0.2%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24.0%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SLV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-2.7%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-18.9%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-35.5%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-1.5%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62.8% ▲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WTI Oil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USO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+9.5%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+19.0%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+69.0%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+79.6%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42.7%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CRYPTO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Bitcoin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BTC-USD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+2.3%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-5.4%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-1.3%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-23.5%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CA5A5"/>
                          </a:solidFill>
                          <a:latin typeface="Calibri"/>
                        </a:rPr>
                        <a:t>-23.9%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38.4%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FX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US Dollar Index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UUP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+1.4%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+4.0%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+3.0%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2.5%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21944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969251"/>
            <a:ext cx="1075334" cy="30431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044" y="2444739"/>
            <a:ext cx="1075334" cy="30431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6044" y="2920227"/>
            <a:ext cx="1075334" cy="30431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044" y="3395715"/>
            <a:ext cx="1075334" cy="30431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6044" y="3871203"/>
            <a:ext cx="1075334" cy="304312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6044" y="4346691"/>
            <a:ext cx="1075334" cy="304312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6044" y="4822179"/>
            <a:ext cx="1075334" cy="30431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16044" y="5571986"/>
            <a:ext cx="1075334" cy="30431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6044" y="6321794"/>
            <a:ext cx="1075334" cy="304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2 of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FIXED INCOME, COMMODITIES &amp; OTHER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Fixed Income &amp; Credit · Commodities · Crypto · FX · Volatility  ·  Trend / 1W / 1M / 3M / YTD / Vol / Signal  ·  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30 March 2026  17:26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04672"/>
          <a:ext cx="125272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1280160"/>
                <a:gridCol w="914400"/>
                <a:gridCol w="1005840"/>
                <a:gridCol w="1005840"/>
                <a:gridCol w="1005840"/>
                <a:gridCol w="1097280"/>
                <a:gridCol w="1280160"/>
                <a:gridCol w="1188720"/>
              </a:tblGrid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Vol (vs 1M)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>VOLATILITY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Ultra VIX Short-Term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UVXY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+23.7%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+34.0%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+74.5%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+71.6%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101.2%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475488">
                <a:tc>
                  <a:txBody>
                    <a:bodyPr wrap="non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Calibri"/>
                        </a:rPr>
                        <a:t>VIX Short-Term Futures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B949E"/>
                          </a:solidFill>
                          <a:latin typeface="Calibri"/>
                        </a:rPr>
                        <a:t>VIXY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+15.1%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+22.6%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+49.2%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6EE7B7"/>
                          </a:solidFill>
                          <a:latin typeface="Calibri"/>
                        </a:rPr>
                        <a:t>+49.1%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86EFAC"/>
                          </a:solidFill>
                          <a:latin typeface="Calibri"/>
                        </a:rPr>
                        <a:t>64.8% ▼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044" y="1493763"/>
            <a:ext cx="1075334" cy="30431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044" y="1969251"/>
            <a:ext cx="1075334" cy="304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0" y="6583680"/>
            <a:ext cx="2377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Page 3 of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RISK SNAPSHOT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Volatility (20D ann.) vs Sharpe Ratio (1Y)  ·  Bubble size = Max Drawdown magnitude  ·  Colour =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30 March 2026  17:26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YTD PERFORMANCE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Year-to-Date Return  ·  Sorted best to worst  ·  1/4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30 March 2026  17:26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YTD PERFORMANCE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Year-to-Date Return  ·  Sorted best to worst  ·  2/4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30 March 2026  17:26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YTD PERFORMANCE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Year-to-Date Return  ·  Sorted best to worst  ·  3/4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30 March 2026  17:26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YTD PERFORMANCE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Year-to-Date Return  ·  Sorted best to worst  ·  4/4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30 March 2026  17:26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