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 i="0">
                <a:solidFill>
                  <a:srgbClr val="E6EDF3"/>
                </a:solidFill>
                <a:latin typeface="Calibri"/>
              </a:rPr>
              <a:t>BK MARKET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i="0">
                <a:solidFill>
                  <a:srgbClr val="8B949E"/>
                </a:solidFill>
                <a:latin typeface="Calibri"/>
              </a:rPr>
              <a:t>Daily Brief  ·  27 March 2026  18:07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1868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47-Instrument Universe  ·  10 Asset Classes  ·  Returns, Risk &amp;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DE68A"/>
                </a:solidFill>
                <a:latin typeface="Calibri"/>
              </a:rPr>
              <a:t>Market Tone: MIXED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4164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Split signals: 12 RED · 16 AMBER · 19 GREEN.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480560"/>
            <a:ext cx="2286000" cy="1280160"/>
          </a:xfrm>
          <a:prstGeom prst="rect">
            <a:avLst/>
          </a:prstGeom>
          <a:solidFill>
            <a:srgbClr val="4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4498848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F87171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87171"/>
                </a:solidFill>
                <a:latin typeface="Calibri"/>
              </a:rPr>
              <a:t>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39" y="4480560"/>
            <a:ext cx="2286000" cy="1280160"/>
          </a:xfrm>
          <a:prstGeom prst="rect">
            <a:avLst/>
          </a:prstGeom>
          <a:solidFill>
            <a:srgbClr val="451A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39" y="4498848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FDE68A"/>
                </a:solidFill>
                <a:latin typeface="Calibri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39" y="5303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DE68A"/>
                </a:solidFill>
                <a:latin typeface="Calibri"/>
              </a:rPr>
              <a:t>AMBER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4480560"/>
            <a:ext cx="2286000" cy="1280160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4498848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86EFAC"/>
                </a:solidFill>
                <a:latin typeface="Calibri"/>
              </a:rP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303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86EFAC"/>
                </a:solidFill>
                <a:latin typeface="Calibri"/>
              </a:rPr>
              <a:t>GREEN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Signal: RED = Max DD &lt; −15%   AMBER = −15% to −7%   GREEN = &gt; −7% from 52-week 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Source: Yahoo Finance  ·  Price return, local currency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EQUITIES —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US Broad · US Sectors · Dev Mkts · EM · Defence  ·  Trend / 1W / 1M / 3M / YTD / Vol /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27 March 2026  18:07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465615"/>
              </p:ext>
            </p:extLst>
          </p:nvPr>
        </p:nvGraphicFramePr>
        <p:xfrm>
          <a:off x="164592" y="920251"/>
          <a:ext cx="11265409" cy="564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1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2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5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5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5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67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512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689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4435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58A6FF"/>
                          </a:solidFill>
                          <a:latin typeface="Calibri"/>
                        </a:rPr>
                        <a:t>Asset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Ticker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Trend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1W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3M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YTD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Vol (vs 1M)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14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>EQUITIES — US BROAD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9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Nasdaq 100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QQQ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-1.4%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-4.3%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-7.9%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-6.6%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19.2%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29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Russell 2000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IWM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+2.2%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-1.2%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-6.4%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+0.7%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20.9%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29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S&amp;P 500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SPY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-0.5%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-3.8%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-6.1%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-5.1%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15.3%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29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World (ACWI)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ACWI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-0.1%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-3.7%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-6.0%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-3.6%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20.7%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14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>EQUITIES — US SECTORS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29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Energy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XLE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+3.7%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+8.8%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+25.1%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+37.6%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15.5%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529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Financials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XLF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-0.1%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-7.6%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-10.4%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5.1%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529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Real Estate (REITs)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VNQ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-1.2%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-6.2%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-3.1%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-0.9%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13.0%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529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Utilities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XLU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+1.5%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+6.5%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+6.2%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4.1%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149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>EQUITIES — DEVELOPED MARKETS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529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Australia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EWA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-0.5%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-4.1%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-0.8%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+3.7%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30.0%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2529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Europe Dev (EAFE)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EFA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+1.1%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-3.7%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-5.3%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-1.4%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24.9%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044" y="1493763"/>
            <a:ext cx="1075334" cy="3043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044" y="1969251"/>
            <a:ext cx="1075334" cy="30431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6044" y="2444739"/>
            <a:ext cx="1075334" cy="30431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6044" y="2920227"/>
            <a:ext cx="1075334" cy="30431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6044" y="3670035"/>
            <a:ext cx="1075334" cy="30431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6044" y="4145522"/>
            <a:ext cx="1075334" cy="30431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6044" y="4621010"/>
            <a:ext cx="1075334" cy="304312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6044" y="5096498"/>
            <a:ext cx="1075334" cy="30431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6044" y="5846306"/>
            <a:ext cx="1075334" cy="304312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16044" y="6321794"/>
            <a:ext cx="1075334" cy="3043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0" y="6583680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Page 1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EQUITIES —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US Broad · US Sectors · Dev Mkts · EM · Defence  ·  Trend / 1W / 1M / 3M / YTD / Vol / Signal  ·  2/3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27 March 2026  18:07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4592" y="804672"/>
          <a:ext cx="12527280" cy="5449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Asset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Ticker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Trend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1W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3M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YTD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Vol (vs 1M)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Eurozone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EZU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+1.3%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-3.7%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-8.2%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-4.9%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26.5%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Germany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EWG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+1.2%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-5.3%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-11.1%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-9.0%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27.6%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Japan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EWJ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+1.9%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-2.4%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-2.2%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+2.4%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29.1%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Singapore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EWS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+0.9%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+1.3%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-3.4%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+0.4%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20.8%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UK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EWU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+0.8%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-3.9%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-3.0%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+0.5%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21.9%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>EQUITIES — EMERGING MARKETS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Brazil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EWZ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+5.0%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+1.4%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+0.6%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+15.8%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39.9%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China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FXI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-0.7%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-2.5%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-11.4%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-8.8%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25.3%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EM Broad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EEM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-0.3%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-3.2%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-6.1%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+1.4%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35.5%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India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INDA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-6.8%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-9.0%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-13.8%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31.4%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Korea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EWY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-4.6%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-5.3%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+1.7%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+23.4%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67.2%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044" y="1219443"/>
            <a:ext cx="1075334" cy="3043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044" y="1694931"/>
            <a:ext cx="1075334" cy="30431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6044" y="2170419"/>
            <a:ext cx="1075334" cy="30431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6044" y="2645907"/>
            <a:ext cx="1075334" cy="30431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6044" y="3121395"/>
            <a:ext cx="1075334" cy="30431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6044" y="3871203"/>
            <a:ext cx="1075334" cy="30431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6044" y="4346691"/>
            <a:ext cx="1075334" cy="304312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6044" y="4822179"/>
            <a:ext cx="1075334" cy="30431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6044" y="5297666"/>
            <a:ext cx="1075334" cy="304312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16044" y="5773154"/>
            <a:ext cx="1075334" cy="3043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0" y="6583680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Page 2 of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EQUITIES —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US Broad · US Sectors · Dev Mkts · EM · Defence  ·  Trend / 1W / 1M / 3M / YTD / Vol / Signal  ·  3/3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27 March 2026  18:07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198819"/>
              </p:ext>
            </p:extLst>
          </p:nvPr>
        </p:nvGraphicFramePr>
        <p:xfrm>
          <a:off x="164592" y="804672"/>
          <a:ext cx="11585446" cy="2648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6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56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0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0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0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47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839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993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76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Asset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Ticker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Trend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1W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3M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YTD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Vol (vs 1M)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99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South Africa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EZA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+2.2%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-9.3%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-16.2%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-7.0%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40.0%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99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Taiwan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EWT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+0.5%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+0.8%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+0.6%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+10.3%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39.7%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45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>DEFENCE &amp; GEOPOLITICAL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99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Defence Bull 3x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DFEN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-3.6%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-25.7%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-21.5%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+1.5%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64.9%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99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S&amp;P Aerospace &amp; Defence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XAR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-0.7%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-8.0%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-9.2%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+6.5%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F87171"/>
                          </a:solidFill>
                          <a:latin typeface="Calibri"/>
                        </a:rPr>
                        <a:t>30.8%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99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US Aerospace &amp; Defence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ITA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-1.1%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-9.1%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-6.3%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+2.6%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20.8%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044" y="1219443"/>
            <a:ext cx="1075334" cy="3043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044" y="1694931"/>
            <a:ext cx="1075334" cy="30431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6044" y="2444739"/>
            <a:ext cx="1075334" cy="30431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6044" y="2920227"/>
            <a:ext cx="1075334" cy="30431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6044" y="3395715"/>
            <a:ext cx="1075334" cy="3043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0" y="6583680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Page 3 of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FIXED INCOME, COMMODITIES &amp; OTHER —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Fixed Income &amp; Credit · Commodities · Crypto · FX · Volatility  ·  Trend / 1W / 1M / 3M / YTD / Vol /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27 March 2026  18:07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4592" y="804672"/>
          <a:ext cx="12527280" cy="5449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Asset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Ticker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Trend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1W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3M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YTD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Vol (vs 1M)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>FIXED INCOME &amp; CREDIT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Cash (T-Bills)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BIL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+0.2%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+0.6%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+0.8%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0.2%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EM Local Currency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EMLC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+0.1%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-2.5%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-4.2%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-2.4%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12.8%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EM USD Sovereigns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EMB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+0.3%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-2.4%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-2.6%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-2.1%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12.4%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HY Credit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HYG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-1.0%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-1.8%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-1.2%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7.3%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IG Credit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LQD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-2.1%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-2.0%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-1.4%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7.8%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Senior Loans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BKLN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-0.0%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+0.6%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-1.4%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-1.5%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2.1%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Treasuries 1-3Y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SHY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-0.1%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-0.6%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-0.2%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-0.2%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2.2%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Treasuries 20Y+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TLT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+0.3%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-2.7%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-1.4%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-0.5%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10.6%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Treasuries 7-10Y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IEF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-0.3%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-1.9%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-0.8%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-1.0%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7.5%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US Aggregate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AGG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-0.1%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-1.6%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-0.9%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-0.7%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5.8%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044" y="1493763"/>
            <a:ext cx="1075334" cy="3043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044" y="1969251"/>
            <a:ext cx="1075334" cy="30431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6044" y="2444739"/>
            <a:ext cx="1075334" cy="30431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6044" y="2920227"/>
            <a:ext cx="1075334" cy="30431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6044" y="3395715"/>
            <a:ext cx="1075334" cy="30431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6044" y="3871203"/>
            <a:ext cx="1075334" cy="30431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6044" y="4346691"/>
            <a:ext cx="1075334" cy="304312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6044" y="4822179"/>
            <a:ext cx="1075334" cy="30431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6044" y="5297666"/>
            <a:ext cx="1075334" cy="304312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16044" y="5773154"/>
            <a:ext cx="1075334" cy="3043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0" y="6583680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Page 1 of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FIXED INCOME, COMMODITIES &amp; OTHER —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Fixed Income &amp; Credit · Commodities · Crypto · FX · Volatility  ·  Trend / 1W / 1M / 3M / YTD / Vol / Signal  ·  2/3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27 March 2026  18:07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099732"/>
              </p:ext>
            </p:extLst>
          </p:nvPr>
        </p:nvGraphicFramePr>
        <p:xfrm>
          <a:off x="164592" y="804672"/>
          <a:ext cx="12527280" cy="6181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Asset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Ticker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Trend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1W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3M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YTD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Vol (vs 1M)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US TIPS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TIP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-0.4%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-1.5%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-0.4%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-0.1%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3.9%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>COMMODITIES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Agriculture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DBA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+1.0%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+1.5%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+5.3%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+6.2%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3.6%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Broad Commodities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DBC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-1.7%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+3.4%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+17.6%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+27.2%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32.2%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Copper Miners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COPX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+2.6%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-11.3%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-17.6%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-1.3%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68.6%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Gold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GLD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-3.1%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-15.4%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-12.5%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+1.1%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36.8%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Natural Gas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UNG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-4.4%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-7.1%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-15.2%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-3.4%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36.5%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Silver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SLV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-1.2%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-20.0%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-34.6%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-5.7%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55.9%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WTI Oil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USO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-3.4%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+7.8%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+58.6%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+69.5%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72.5%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>CRYPTO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Bitcoin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BTC-USD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-1.6%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-0.3%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-0.7%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-24.4%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-23.7%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44.0%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>FX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US Dollar Index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UUP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+0.5%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+1.2%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+3.3%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+2.9%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4.8%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044" y="1219443"/>
            <a:ext cx="1075334" cy="3043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044" y="1969251"/>
            <a:ext cx="1075334" cy="30431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6044" y="2444739"/>
            <a:ext cx="1075334" cy="30431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6044" y="2920227"/>
            <a:ext cx="1075334" cy="30431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6044" y="3395715"/>
            <a:ext cx="1075334" cy="30431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6044" y="3871203"/>
            <a:ext cx="1075334" cy="30431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6044" y="4346691"/>
            <a:ext cx="1075334" cy="304312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6044" y="4822179"/>
            <a:ext cx="1075334" cy="30431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6044" y="5571986"/>
            <a:ext cx="1075334" cy="304312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16044" y="6321794"/>
            <a:ext cx="1075334" cy="3043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0" y="6583680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Page 2 of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FIXED INCOME, COMMODITIES &amp; OTHER —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Fixed Income &amp; Credit · Commodities · Crypto · FX · Volatility  ·  Trend / 1W / 1M / 3M / YTD / Vol / Signal  ·  3/3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27 March 2026  18:07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4592" y="804672"/>
          <a:ext cx="125272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Asset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Ticker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Trend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1W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3M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YTD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Vol (vs 1M)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>VOLATILITY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solidFill>
                      <a:srgbClr val="1C21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Ultra VIX Short-Term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UVXY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+1.8%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+1.8%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+55.5%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+53.2%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98.2%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VIX Short-Term Futures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VIXY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+1.5%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+3.0%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+38.2%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+38.4%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64.2%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044" y="1493763"/>
            <a:ext cx="1075334" cy="3043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044" y="1969251"/>
            <a:ext cx="1075334" cy="3043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0" y="6583680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Page 3 of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RISK SNAPSHOT — ALL INSTRUMENTS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Volatility (20D ann.) vs Sharpe Ratio (1Y)  ·  Bubble size = Max Drawdown magnitude  ·  Colour =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27 March 2026  18:07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04672"/>
            <a:ext cx="11823192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YTD PERFORMANCE — ALL INSTRUMENTS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Year-to-Date Return  ·  Sorted best to worst  ·  1/4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27 March 2026  18:07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04672"/>
            <a:ext cx="11823192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YTD PERFORMANCE — ALL INSTRUMENTS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Year-to-Date Return  ·  Sorted best to worst  ·  2/4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27 March 2026  18:07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04672"/>
            <a:ext cx="11823192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YTD PERFORMANCE — ALL INSTRUMENTS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Year-to-Date Return  ·  Sorted best to worst  ·  3/4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27 March 2026  18:07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04672"/>
            <a:ext cx="11823192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YTD PERFORMANCE — ALL INSTRUMENTS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Year-to-Date Return  ·  Sorted best to worst  ·  4/4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27 March 2026  18:07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04672"/>
            <a:ext cx="11823192" cy="5852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1584</Words>
  <Application>Microsoft Office PowerPoint</Application>
  <PresentationFormat>Custom</PresentationFormat>
  <Paragraphs>545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bhavesh kamdar</cp:lastModifiedBy>
  <cp:revision>2</cp:revision>
  <dcterms:created xsi:type="dcterms:W3CDTF">2013-01-27T09:14:16Z</dcterms:created>
  <dcterms:modified xsi:type="dcterms:W3CDTF">2026-03-27T10:11:19Z</dcterms:modified>
  <cp:category/>
</cp:coreProperties>
</file>